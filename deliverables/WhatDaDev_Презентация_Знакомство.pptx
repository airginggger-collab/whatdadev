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Обложка-титул + О нас: вордмарк, dogfooding-опоры, РФ/КЗ.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Открываем болью клиента, не собой. Before/After: как сейчас (хаос) → с Coordo (порядок).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Крупная цифра 4000+ с выводом на визуале. Стат-строка. Импортозамещение.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 before/after Месяцы→Недели. Процесс из 3 шагов. Без подписки.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Формат доказательства. Реальные названия и цифры — по согласованию (Фаза 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ЭДО — вход, дальше вся платформа. Импортозамещение выделено тёплым callout.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Закрытие: конкретный низкобарьерный оффер (бесплатный разбор за 30 минут) + контакты.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F7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1668C0"/>
          </a:solidFill>
          <a:ln w="15875">
            <a:solidFill>
              <a:srgbClr val="9BC7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BC7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2743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F3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WhatDaDev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0" y="2743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B7C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 компании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C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whatdadev.ru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7C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07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914400"/>
            <a:ext cx="100584" cy="100584"/>
          </a:xfrm>
          <a:prstGeom prst="rect">
            <a:avLst/>
          </a:prstGeom>
          <a:solidFill>
            <a:srgbClr val="9BC7EE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85039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9BC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ЗНАКОМСТВО · ВНЕДРЕНИЕ ELMA365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29768" y="100584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-100" kern="0" dirty="0">
                <a:solidFill>
                  <a:srgbClr val="EEF3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WhatDaDev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457200" y="21031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7C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Внедряем ELMA365 под ключ и делаем готовый документооборот из коробки — и сами живём в этой системе.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761488"/>
            <a:ext cx="777240" cy="50292"/>
          </a:xfrm>
          <a:prstGeom prst="rect">
            <a:avLst/>
          </a:prstGeom>
          <a:solidFill>
            <a:srgbClr val="9BC7EE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3017520"/>
            <a:ext cx="2633472" cy="1234440"/>
          </a:xfrm>
          <a:prstGeom prst="roundRect">
            <a:avLst>
              <a:gd name="adj" fmla="val 2963"/>
            </a:avLst>
          </a:prstGeom>
          <a:solidFill>
            <a:srgbClr val="18507F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" y="3017520"/>
            <a:ext cx="2596896" cy="123444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t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EF3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Сами живём в ELMA365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B7C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Работаем на том, что внедряем — знаем систему изнутри.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255264" y="3017520"/>
            <a:ext cx="2633472" cy="1234440"/>
          </a:xfrm>
          <a:prstGeom prst="roundRect">
            <a:avLst>
              <a:gd name="adj" fmla="val 2963"/>
            </a:avLst>
          </a:prstGeom>
          <a:solidFill>
            <a:srgbClr val="18507F"/>
          </a:solidFill>
          <a:ln/>
        </p:spPr>
      </p:sp>
      <p:sp>
        <p:nvSpPr>
          <p:cNvPr id="16" name="Text 14"/>
          <p:cNvSpPr/>
          <p:nvPr/>
        </p:nvSpPr>
        <p:spPr>
          <a:xfrm>
            <a:off x="3273552" y="3017520"/>
            <a:ext cx="2596896" cy="123444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t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EF3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Сертифицированная команда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B7C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Аналитики и low-code разработчики, 10+ сертификатов ELMA.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053328" y="3017520"/>
            <a:ext cx="2633472" cy="1234440"/>
          </a:xfrm>
          <a:prstGeom prst="roundRect">
            <a:avLst>
              <a:gd name="adj" fmla="val 2963"/>
            </a:avLst>
          </a:prstGeom>
          <a:solidFill>
            <a:srgbClr val="18507F"/>
          </a:solidFill>
          <a:ln/>
        </p:spPr>
      </p:sp>
      <p:sp>
        <p:nvSpPr>
          <p:cNvPr id="18" name="Text 16"/>
          <p:cNvSpPr/>
          <p:nvPr/>
        </p:nvSpPr>
        <p:spPr>
          <a:xfrm>
            <a:off x="6071616" y="3017520"/>
            <a:ext cx="2596896" cy="123444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t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EF3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 и услуги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B7C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Внедрение под ключ и готовый коробочный ЭДО Coordo.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EF3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Россия и Казахстан</a:t>
            </a:r>
            <a:pPr indent="0" marL="0">
              <a:buNone/>
            </a:pPr>
            <a:r>
              <a:rPr lang="en-US" sz="1000" dirty="0">
                <a:solidFill>
                  <a:srgbClr val="B7C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Руководитель — </a:t>
            </a:r>
            <a:pPr indent="0" marL="0">
              <a:buNone/>
            </a:pPr>
            <a:r>
              <a:rPr lang="en-US" sz="1000" b="1" dirty="0">
                <a:solidFill>
                  <a:srgbClr val="EEF3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лет</a:t>
            </a:r>
            <a:pPr indent="0" marL="0">
              <a:buNone/>
            </a:pPr>
            <a:r>
              <a:rPr lang="en-US" sz="1000" dirty="0">
                <a:solidFill>
                  <a:srgbClr val="B7C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в ELMA365   ·   внедрение + продукт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5F8FC"/>
          </a:solidFill>
          <a:ln w="15875">
            <a:solidFill>
              <a:srgbClr val="1668C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6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2743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WhatDaDev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0" y="2743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Проблема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whatdadev.ru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07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914400"/>
            <a:ext cx="100584" cy="100584"/>
          </a:xfrm>
          <a:prstGeom prst="rect">
            <a:avLst/>
          </a:prstGeom>
          <a:solidFill>
            <a:srgbClr val="1668C0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85039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166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 ЧЕГО ВСЁ НАЧИНАЕТСЯ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117043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50"/>
              </a:lnSpc>
              <a:buNone/>
            </a:pPr>
            <a:r>
              <a:rPr lang="en-US" sz="3000" b="1" dirty="0">
                <a:solidFill>
                  <a:srgbClr val="123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Согласование договора тянется неделями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7200" y="214884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Почта, бумага, версии в разных местах — не видно, у кого документ и когда будет готово.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3611880" cy="1783080"/>
          </a:xfrm>
          <a:prstGeom prst="roundRect">
            <a:avLst>
              <a:gd name="adj" fmla="val 3077"/>
            </a:avLst>
          </a:prstGeom>
          <a:solidFill>
            <a:srgbClr val="ECEEF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743200"/>
            <a:ext cx="3611880" cy="1783080"/>
          </a:xfrm>
          <a:prstGeom prst="rect">
            <a:avLst/>
          </a:prstGeom>
          <a:noFill/>
          <a:ln/>
        </p:spPr>
        <p:txBody>
          <a:bodyPr wrap="square" lIns="2540" tIns="2540" rIns="2540" bIns="254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950" spc="100" kern="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 СЕЙЧАС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Правки и версии теряются в почте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Сроки плывут, эскалации нет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Не видно, у кого документ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Каждая доработка — задача разработчику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206240" y="3401568"/>
            <a:ext cx="502920" cy="502920"/>
          </a:xfrm>
          <a:prstGeom prst="ellipse">
            <a:avLst/>
          </a:prstGeom>
          <a:solidFill>
            <a:srgbClr val="1668C0"/>
          </a:solidFill>
          <a:ln/>
        </p:spPr>
      </p:sp>
      <p:sp>
        <p:nvSpPr>
          <p:cNvPr id="15" name="Text 13"/>
          <p:cNvSpPr/>
          <p:nvPr/>
        </p:nvSpPr>
        <p:spPr>
          <a:xfrm>
            <a:off x="4206240" y="3401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846320" y="2743200"/>
            <a:ext cx="3840480" cy="1783080"/>
          </a:xfrm>
          <a:prstGeom prst="roundRect">
            <a:avLst>
              <a:gd name="adj" fmla="val 3077"/>
            </a:avLst>
          </a:prstGeom>
          <a:solidFill>
            <a:srgbClr val="E7F0FA"/>
          </a:solidFill>
          <a:ln w="12700">
            <a:solidFill>
              <a:srgbClr val="CFE0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2743200"/>
            <a:ext cx="3840480" cy="1783080"/>
          </a:xfrm>
          <a:prstGeom prst="rect">
            <a:avLst/>
          </a:prstGeom>
          <a:noFill/>
          <a:ln/>
        </p:spPr>
        <p:txBody>
          <a:bodyPr wrap="square" lIns="2540" tIns="2540" rIns="2540" bIns="254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950" spc="100" kern="0" dirty="0">
                <a:solidFill>
                  <a:srgbClr val="166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 COORDO НА ELMA365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Единый маршрут и реестр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Сроки, эскалация, делегирование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Видно статус на каждом этапе</a:t>
            </a:r>
            <a:endParaRPr lang="en-US" sz="9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Маршруты меняются без кода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5F8FC"/>
          </a:solidFill>
          <a:ln w="15875">
            <a:solidFill>
              <a:srgbClr val="1668C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6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2743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WhatDaDev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0" y="2743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Платформа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whatdadev.ru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07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914400"/>
            <a:ext cx="100584" cy="100584"/>
          </a:xfrm>
          <a:prstGeom prst="rect">
            <a:avLst/>
          </a:prstGeom>
          <a:solidFill>
            <a:srgbClr val="1668C0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85039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166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ПЛАТФОРМА, КОТОРОЙ ДОВЕРЯЮТ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11704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15"/>
              </a:lnSpc>
              <a:buNone/>
            </a:pPr>
            <a:r>
              <a:rPr lang="en-US" sz="2300" b="1" dirty="0">
                <a:solidFill>
                  <a:srgbClr val="123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Внедряем ELMA365 — №1 BPM-платформа в СНГ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420624" y="19659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66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4000+</a:t>
            </a:r>
            <a:endParaRPr lang="en-US" sz="7200" dirty="0"/>
          </a:p>
        </p:txBody>
      </p:sp>
      <p:sp>
        <p:nvSpPr>
          <p:cNvPr id="12" name="Shape 10"/>
          <p:cNvSpPr/>
          <p:nvPr/>
        </p:nvSpPr>
        <p:spPr>
          <a:xfrm>
            <a:off x="502920" y="2999232"/>
            <a:ext cx="1737360" cy="64008"/>
          </a:xfrm>
          <a:prstGeom prst="rect">
            <a:avLst/>
          </a:prstGeom>
          <a:solidFill>
            <a:srgbClr val="1668C0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2011680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компаний уже работают на ELMA365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внедряем платформу, которой доверяет рынок, — не эксперимент.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3337560"/>
            <a:ext cx="8229600" cy="841248"/>
          </a:xfrm>
          <a:prstGeom prst="roundRect">
            <a:avLst>
              <a:gd name="adj" fmla="val 5435"/>
            </a:avLst>
          </a:prstGeom>
          <a:solidFill>
            <a:srgbClr val="E9F1FB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94360" y="3337560"/>
            <a:ext cx="1783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166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№1</a:t>
            </a:r>
            <a:endParaRPr lang="en-US" sz="2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BPM в СНГ · TAdviser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2514600" y="3447288"/>
            <a:ext cx="7315" cy="621792"/>
          </a:xfrm>
          <a:prstGeom prst="rect">
            <a:avLst/>
          </a:prstGeom>
          <a:solidFill>
            <a:srgbClr val="D8E2EC"/>
          </a:solidFill>
          <a:ln/>
        </p:spPr>
      </p:sp>
      <p:sp>
        <p:nvSpPr>
          <p:cNvPr id="17" name="Text 15"/>
          <p:cNvSpPr/>
          <p:nvPr/>
        </p:nvSpPr>
        <p:spPr>
          <a:xfrm>
            <a:off x="2651760" y="3337560"/>
            <a:ext cx="1783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166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50 000+</a:t>
            </a:r>
            <a:endParaRPr lang="en-US" sz="2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пользователей на инсталляцию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572000" y="3447288"/>
            <a:ext cx="7315" cy="621792"/>
          </a:xfrm>
          <a:prstGeom prst="rect">
            <a:avLst/>
          </a:prstGeom>
          <a:solidFill>
            <a:srgbClr val="D8E2EC"/>
          </a:solidFill>
          <a:ln/>
        </p:spPr>
      </p:sp>
      <p:sp>
        <p:nvSpPr>
          <p:cNvPr id="19" name="Text 17"/>
          <p:cNvSpPr/>
          <p:nvPr/>
        </p:nvSpPr>
        <p:spPr>
          <a:xfrm>
            <a:off x="4709160" y="3337560"/>
            <a:ext cx="1783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166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250+</a:t>
            </a:r>
            <a:endParaRPr lang="en-US" sz="2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партнёров-интеграторов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629400" y="3447288"/>
            <a:ext cx="7315" cy="621792"/>
          </a:xfrm>
          <a:prstGeom prst="rect">
            <a:avLst/>
          </a:prstGeom>
          <a:solidFill>
            <a:srgbClr val="D8E2EC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3337560"/>
            <a:ext cx="1783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166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РФ + КЗ</a:t>
            </a:r>
            <a:endParaRPr lang="en-US" sz="2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облако или on-premise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Российское ПО · реестр отеч. ПО · замена SAP, Salesforce, MS Dynamics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5F8FC"/>
          </a:solidFill>
          <a:ln w="15875">
            <a:solidFill>
              <a:srgbClr val="1668C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6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2743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WhatDaDev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0" y="2743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Продукт · Coordo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whatdadev.ru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07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914400"/>
            <a:ext cx="100584" cy="100584"/>
          </a:xfrm>
          <a:prstGeom prst="rect">
            <a:avLst/>
          </a:prstGeom>
          <a:solidFill>
            <a:srgbClr val="1668C0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85039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166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 ЗАПУСКАЕМ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11704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15"/>
              </a:lnSpc>
              <a:buNone/>
            </a:pPr>
            <a:r>
              <a:rPr lang="en-US" sz="2300" b="1" dirty="0">
                <a:solidFill>
                  <a:srgbClr val="123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Документооборот за недели, а не месяцы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457200" y="19659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trike="sngStrike" dirty="0">
                <a:solidFill>
                  <a:srgbClr val="AEB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Месяцы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743200" y="196596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6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429000" y="1920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6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Недели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457200" y="2926080"/>
            <a:ext cx="262128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5488" y="2926080"/>
            <a:ext cx="2584704" cy="137160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t"/>
          <a:lstStyle/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00" dirty="0">
                <a:solidFill>
                  <a:srgbClr val="166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01</a:t>
            </a:r>
            <a:endParaRPr lang="en-US" sz="90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Берём готовый контур</a:t>
            </a:r>
            <a:endParaRPr lang="en-US" sz="90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Договоры, ОРД или корреспонденция — из коробки.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61360" y="2926080"/>
            <a:ext cx="262128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79648" y="2926080"/>
            <a:ext cx="2584704" cy="137160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t"/>
          <a:lstStyle/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00" dirty="0">
                <a:solidFill>
                  <a:srgbClr val="166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02</a:t>
            </a:r>
            <a:endParaRPr lang="en-US" sz="90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Настраиваем маршруты</a:t>
            </a:r>
            <a:endParaRPr lang="en-US" sz="90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Этапы, сроки, согласующие — без кода.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065520" y="2926080"/>
            <a:ext cx="262128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083808" y="2926080"/>
            <a:ext cx="2584704" cy="137160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t"/>
          <a:lstStyle/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900" dirty="0">
                <a:solidFill>
                  <a:srgbClr val="166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ШАГ 03</a:t>
            </a:r>
            <a:endParaRPr lang="en-US" sz="90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Запуск и адаптация</a:t>
            </a:r>
            <a:endParaRPr lang="en-US" sz="900" dirty="0"/>
          </a:p>
          <a:p>
            <a:pPr indent="0" marL="0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Обучение, поддержка, обновления.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 готовых модулях ELMA365 · мобильное приложение в комплекте · один раз, </a:t>
            </a:r>
            <a:pPr indent="0" marL="0">
              <a:buNone/>
            </a:pPr>
            <a:r>
              <a:rPr lang="en-US" sz="950" b="1" dirty="0">
                <a:solidFill>
                  <a:srgbClr val="17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подписки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5F8FC"/>
          </a:solidFill>
          <a:ln w="15875">
            <a:solidFill>
              <a:srgbClr val="1668C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6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2743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WhatDaDev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0" y="2743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Проекты · предварительно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whatdadev.ru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07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914400"/>
            <a:ext cx="100584" cy="100584"/>
          </a:xfrm>
          <a:prstGeom prst="rect">
            <a:avLst/>
          </a:prstGeom>
          <a:solidFill>
            <a:srgbClr val="1668C0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85039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166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РЕЗУЛЬТАТ, А НЕ СЛАЙДЫ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11704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15"/>
              </a:lnSpc>
              <a:buNone/>
            </a:pPr>
            <a:r>
              <a:rPr lang="en-US" sz="2300" b="1" dirty="0">
                <a:solidFill>
                  <a:srgbClr val="123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меняется после внедрения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192024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spc="100" kern="0" dirty="0">
                <a:solidFill>
                  <a:srgbClr val="166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ПРОИЗВОДСТВО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66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договоры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148840" y="2121408"/>
            <a:ext cx="7315" cy="512064"/>
          </a:xfrm>
          <a:prstGeom prst="rect">
            <a:avLst/>
          </a:prstGeom>
          <a:solidFill>
            <a:srgbClr val="D8E2EC"/>
          </a:solidFill>
          <a:ln/>
        </p:spPr>
      </p:sp>
      <p:sp>
        <p:nvSpPr>
          <p:cNvPr id="14" name="Text 12"/>
          <p:cNvSpPr/>
          <p:nvPr/>
        </p:nvSpPr>
        <p:spPr>
          <a:xfrm>
            <a:off x="2377440" y="1920240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Единый маршрут согласования, прозрачные сроки и общий реестр — вместо переписки и потерянных версий.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402336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2971800"/>
            <a:ext cx="3986784" cy="86868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850" spc="100" kern="0" dirty="0">
                <a:solidFill>
                  <a:srgbClr val="166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Ритейл · сеть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ОРД и приказы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Контроль ознакомления и исполнения по всей сети.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663440" y="2971800"/>
            <a:ext cx="402336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81728" y="2971800"/>
            <a:ext cx="3986784" cy="868680"/>
          </a:xfrm>
          <a:prstGeom prst="rect">
            <a:avLst/>
          </a:prstGeom>
          <a:noFill/>
          <a:ln/>
        </p:spPr>
        <p:txBody>
          <a:bodyPr wrap="square" lIns="2032" tIns="2032" rIns="2032" bIns="2032" rtlCol="0" anchor="ctr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850" spc="100" kern="0" dirty="0">
                <a:solidFill>
                  <a:srgbClr val="166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Логистика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Корреспонденция</a:t>
            </a:r>
            <a:endParaRPr lang="en-US" sz="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Единый учёт входящих и исходящих — ничего не теряется.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57200" y="397764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Клиенты: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280160" y="3977640"/>
            <a:ext cx="1364285" cy="384048"/>
          </a:xfrm>
          <a:prstGeom prst="roundRect">
            <a:avLst>
              <a:gd name="adj" fmla="val 7143"/>
            </a:avLst>
          </a:prstGeom>
          <a:solidFill>
            <a:srgbClr val="F5F8FC"/>
          </a:solidFill>
          <a:ln w="12700">
            <a:solidFill>
              <a:srgbClr val="D8E2EC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280160" y="3977640"/>
            <a:ext cx="13642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7AE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лого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790749" y="3977640"/>
            <a:ext cx="1364285" cy="384048"/>
          </a:xfrm>
          <a:prstGeom prst="roundRect">
            <a:avLst>
              <a:gd name="adj" fmla="val 7143"/>
            </a:avLst>
          </a:prstGeom>
          <a:solidFill>
            <a:srgbClr val="F5F8FC"/>
          </a:solidFill>
          <a:ln w="12700">
            <a:solidFill>
              <a:srgbClr val="D8E2EC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2790749" y="3977640"/>
            <a:ext cx="13642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7AE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лого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301338" y="3977640"/>
            <a:ext cx="1364285" cy="384048"/>
          </a:xfrm>
          <a:prstGeom prst="roundRect">
            <a:avLst>
              <a:gd name="adj" fmla="val 7143"/>
            </a:avLst>
          </a:prstGeom>
          <a:solidFill>
            <a:srgbClr val="F5F8FC"/>
          </a:solidFill>
          <a:ln w="12700">
            <a:solidFill>
              <a:srgbClr val="D8E2EC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301338" y="3977640"/>
            <a:ext cx="13642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7AE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лого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811926" y="3977640"/>
            <a:ext cx="1364285" cy="384048"/>
          </a:xfrm>
          <a:prstGeom prst="roundRect">
            <a:avLst>
              <a:gd name="adj" fmla="val 7143"/>
            </a:avLst>
          </a:prstGeom>
          <a:solidFill>
            <a:srgbClr val="F5F8FC"/>
          </a:solidFill>
          <a:ln w="12700">
            <a:solidFill>
              <a:srgbClr val="D8E2EC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5811926" y="3977640"/>
            <a:ext cx="13642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7AE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лого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322515" y="3977640"/>
            <a:ext cx="1364285" cy="384048"/>
          </a:xfrm>
          <a:prstGeom prst="roundRect">
            <a:avLst>
              <a:gd name="adj" fmla="val 7143"/>
            </a:avLst>
          </a:prstGeom>
          <a:solidFill>
            <a:srgbClr val="F5F8FC"/>
          </a:solidFill>
          <a:ln w="12700">
            <a:solidFill>
              <a:srgbClr val="D8E2EC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7322515" y="3977640"/>
            <a:ext cx="13642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7AE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лого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57200" y="44805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Названия компаний, логотипы и цифры эффекта добавим по согласованию с клиентами.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5F8FC"/>
          </a:solidFill>
          <a:ln w="15875">
            <a:solidFill>
              <a:srgbClr val="1668C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6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2743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WhatDaDev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0" y="2743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Экосистема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whatdadev.ru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02920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96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07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57200" y="914400"/>
            <a:ext cx="100584" cy="100584"/>
          </a:xfrm>
          <a:prstGeom prst="rect">
            <a:avLst/>
          </a:prstGeom>
          <a:solidFill>
            <a:srgbClr val="1668C0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85039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166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БОЛЬШЕ, ЧЕМ ДОКУМЕНТООБОРОТ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11704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15"/>
              </a:lnSpc>
              <a:buNone/>
            </a:pPr>
            <a:r>
              <a:rPr lang="en-US" sz="2300" b="1" dirty="0">
                <a:solidFill>
                  <a:srgbClr val="123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Начинаете с ЭДО — растёте на одной платформе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1947672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5488" y="2148840"/>
            <a:ext cx="1911096" cy="749808"/>
          </a:xfrm>
          <a:prstGeom prst="rect">
            <a:avLst/>
          </a:prstGeom>
          <a:noFill/>
          <a:ln/>
        </p:spPr>
        <p:txBody>
          <a:bodyPr wrap="square" lIns="1778" tIns="1778" rIns="1778" bIns="1778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Продажи и клиенты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551176" y="2148840"/>
            <a:ext cx="1947672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569464" y="2148840"/>
            <a:ext cx="1911096" cy="749808"/>
          </a:xfrm>
          <a:prstGeom prst="rect">
            <a:avLst/>
          </a:prstGeom>
          <a:noFill/>
          <a:ln/>
        </p:spPr>
        <p:txBody>
          <a:bodyPr wrap="square" lIns="1778" tIns="1778" rIns="1778" bIns="1778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ЭДО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Документооборот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45152" y="2148840"/>
            <a:ext cx="1947672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663440" y="2148840"/>
            <a:ext cx="1911096" cy="749808"/>
          </a:xfrm>
          <a:prstGeom prst="rect">
            <a:avLst/>
          </a:prstGeom>
          <a:noFill/>
          <a:ln/>
        </p:spPr>
        <p:txBody>
          <a:bodyPr wrap="square" lIns="1778" tIns="1778" rIns="1778" bIns="1778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КЭДО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Кадровый ЭДО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739128" y="2148840"/>
            <a:ext cx="1947672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57416" y="2148840"/>
            <a:ext cx="1911096" cy="749808"/>
          </a:xfrm>
          <a:prstGeom prst="rect">
            <a:avLst/>
          </a:prstGeom>
          <a:noFill/>
          <a:ln/>
        </p:spPr>
        <p:txBody>
          <a:bodyPr wrap="square" lIns="1778" tIns="1778" rIns="1778" bIns="1778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ServiceDesk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Заявки и SLA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044952"/>
            <a:ext cx="1947672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75488" y="3044952"/>
            <a:ext cx="1911096" cy="749808"/>
          </a:xfrm>
          <a:prstGeom prst="rect">
            <a:avLst/>
          </a:prstGeom>
          <a:noFill/>
          <a:ln/>
        </p:spPr>
        <p:txBody>
          <a:bodyPr wrap="square" lIns="1778" tIns="1778" rIns="1778" bIns="1778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Закупки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Снабжение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551176" y="3044952"/>
            <a:ext cx="1947672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569464" y="3044952"/>
            <a:ext cx="1911096" cy="749808"/>
          </a:xfrm>
          <a:prstGeom prst="rect">
            <a:avLst/>
          </a:prstGeom>
          <a:noFill/>
          <a:ln/>
        </p:spPr>
        <p:txBody>
          <a:bodyPr wrap="square" lIns="1778" tIns="1778" rIns="1778" bIns="1778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Маркетинг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Лиды и кампании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645152" y="3044952"/>
            <a:ext cx="1947672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663440" y="3044952"/>
            <a:ext cx="1911096" cy="749808"/>
          </a:xfrm>
          <a:prstGeom prst="rect">
            <a:avLst/>
          </a:prstGeom>
          <a:noFill/>
          <a:ln/>
        </p:spPr>
        <p:txBody>
          <a:bodyPr wrap="square" lIns="1778" tIns="1778" rIns="1778" bIns="1778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Проекты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Задачи и сроки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739128" y="3044952"/>
            <a:ext cx="1947672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9525">
            <a:solidFill>
              <a:srgbClr val="D8E2EC"/>
            </a:solidFill>
            <a:prstDash val="solid"/>
          </a:ln>
          <a:effectLst>
            <a:outerShdw sx="100000" sy="100000" kx="0" ky="0" algn="bl" rotWithShape="0" blurRad="88900" dist="25400" dir="5400000">
              <a:srgbClr val="1A2A3A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757416" y="3044952"/>
            <a:ext cx="1911096" cy="749808"/>
          </a:xfrm>
          <a:prstGeom prst="rect">
            <a:avLst/>
          </a:prstGeom>
          <a:noFill/>
          <a:ln/>
        </p:spPr>
        <p:txBody>
          <a:bodyPr wrap="square" lIns="1778" tIns="1778" rIns="1778" bIns="1778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71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Прочие процессы</a:t>
            </a:r>
            <a:endParaRPr lang="en-US" sz="1300" dirty="0"/>
          </a:p>
          <a:p>
            <a:pPr indent="0" marL="0">
              <a:buNone/>
            </a:pPr>
            <a:r>
              <a:rPr lang="en-US" sz="950" dirty="0">
                <a:solidFill>
                  <a:srgbClr val="596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Портал, боты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4069080"/>
            <a:ext cx="8229600" cy="658368"/>
          </a:xfrm>
          <a:prstGeom prst="roundRect">
            <a:avLst>
              <a:gd name="adj" fmla="val 6944"/>
            </a:avLst>
          </a:prstGeom>
          <a:solidFill>
            <a:srgbClr val="E9F1FB"/>
          </a:solidFill>
          <a:ln w="12700">
            <a:solidFill>
              <a:srgbClr val="CFE0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06908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0F35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Российское ПО.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23F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 реестре отечественного ПО · замена SAP, Salesforce, MS Dynamics · облако или on-premise на вашем сервере.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3F7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1668C0"/>
          </a:solidFill>
          <a:ln w="15875">
            <a:solidFill>
              <a:srgbClr val="9BC7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BC7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2743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F3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WhatDaDev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0" y="2743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B7C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Следующий шаг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100584" cy="100584"/>
          </a:xfrm>
          <a:prstGeom prst="rect">
            <a:avLst/>
          </a:prstGeom>
          <a:solidFill>
            <a:srgbClr val="9BC7EE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85039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9BC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СЛЕДУЮЩИЙ ШАГ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117043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50"/>
              </a:lnSpc>
              <a:buNone/>
            </a:pPr>
            <a:r>
              <a:rPr lang="en-US" sz="3000" b="1" dirty="0">
                <a:solidFill>
                  <a:srgbClr val="EEF3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Покажем на ваших документах — за 30 минут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7200" y="224028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B7C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Разберём ваш процесс согласования и посчитаем эффект. Бесплатно, без обязательств.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063240"/>
            <a:ext cx="30175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06324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F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Записаться на разбор  →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EF3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sales@whatdadev.ru</a:t>
            </a:r>
            <a:pPr indent="0" marL="0">
              <a:buNone/>
            </a:pPr>
            <a:r>
              <a:rPr lang="en-US" sz="1150" dirty="0">
                <a:solidFill>
                  <a:srgbClr val="EEF3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+7 980 471-57-72</a:t>
            </a:r>
            <a:pPr indent="0" marL="0">
              <a:buNone/>
            </a:pPr>
            <a:r>
              <a:rPr lang="en-US" sz="1150" dirty="0">
                <a:solidFill>
                  <a:srgbClr val="B7C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Telegram @WhatDaDev · whatdadev.ru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WhatDaDev — презентация для знакомства</dc:title>
  <dc:subject>PptxGenJS Presentation</dc:subject>
  <dc:creator>WhatDaDev</dc:creator>
  <cp:lastModifiedBy>WhatDaDev</cp:lastModifiedBy>
  <cp:revision>1</cp:revision>
  <dcterms:created xsi:type="dcterms:W3CDTF">2026-07-10T12:00:25Z</dcterms:created>
  <dcterms:modified xsi:type="dcterms:W3CDTF">2026-07-10T12:00:25Z</dcterms:modified>
</cp:coreProperties>
</file>