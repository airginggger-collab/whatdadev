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Козырь доверия: dogfooding. Сертифицированная команда, продукт+услуги, РФ и КЗ.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Открываем болью клиента, не собой. Before/After: как сейчас (хаос) → с Coordo (порядок).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Крупная цифра 4000+ с выводом на визуале. Стат-строка. Импортозамещение.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before/after Месяцы→Недели. Процесс из 3 шагов. Без подписки.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Формат доказательства. Реальные названия и цифры — по согласованию (Фаза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ЭДО — вход, дальше вся платформа. Импортозамещение выделено тёплым callout.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Закрытие: конкретный низкобарьерный оффер (бесплатный разбор за 30 минут) + контакты.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5875">
            <a:solidFill>
              <a:srgbClr val="1668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WhatDaDev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0" y="274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 компании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whatdadev.ru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00584" cy="100584"/>
          </a:xfrm>
          <a:prstGeom prst="rect">
            <a:avLst/>
          </a:prstGeom>
          <a:solidFill>
            <a:srgbClr val="1668C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8503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КТО ЭТО РЕШАЕТ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1704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15"/>
              </a:lnSpc>
              <a:buNone/>
            </a:pPr>
            <a:r>
              <a:rPr lang="en-US" sz="2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подрядчик со стороны — мы сами живём в ELMA365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 документооборот, задачи и процессы ведём в системе, которую внедряем. Поэтому — по опыту, а не по учебнику.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26212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2788920"/>
            <a:ext cx="2584704" cy="137160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Сами живём в ELMA365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Работаем на том, что внедряем — знаем систему изнутри.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61360" y="2788920"/>
            <a:ext cx="26212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79648" y="2788920"/>
            <a:ext cx="2584704" cy="137160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Сертифицированная команда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Аналитики и low-code разработчики, 10+ сертификатов ELMA.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65520" y="2788920"/>
            <a:ext cx="26212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3808" y="2788920"/>
            <a:ext cx="2584704" cy="137160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 и услуги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под ключ и готовый коробочный ЭДО Coordo.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Россия и Казахстан</a:t>
            </a:r>
            <a:pPr indent="0" marL="0">
              <a:buNone/>
            </a:pPr>
            <a:r>
              <a:rPr lang="en-US" sz="1000" dirty="0">
                <a:solidFill>
                  <a:srgbClr val="D8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·      </a:t>
            </a:r>
            <a:pPr indent="0" marL="0">
              <a:buNone/>
            </a:pPr>
            <a:r>
              <a:rPr lang="en-US" sz="100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Руководитель — </a:t>
            </a:r>
            <a:pPr indent="0" marL="0">
              <a:buNone/>
            </a:pPr>
            <a:r>
              <a:rPr lang="en-US" sz="1000" b="1" dirty="0">
                <a:solidFill>
                  <a:srgbClr val="17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лет</a:t>
            </a:r>
            <a:pPr indent="0" marL="0">
              <a:buNone/>
            </a:pPr>
            <a:r>
              <a:rPr lang="en-US" sz="100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в ELMA365</a:t>
            </a:r>
            <a:pPr indent="0" marL="0">
              <a:buNone/>
            </a:pPr>
            <a:r>
              <a:rPr lang="en-US" sz="1000" dirty="0">
                <a:solidFill>
                  <a:srgbClr val="D8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·      </a:t>
            </a:r>
            <a:pPr indent="0" marL="0">
              <a:buNone/>
            </a:pPr>
            <a:r>
              <a:rPr lang="en-US" sz="100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Внедрение + продукт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5875">
            <a:solidFill>
              <a:srgbClr val="1668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WhatDaDev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0" y="274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whatdadev.ru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00584" cy="100584"/>
          </a:xfrm>
          <a:prstGeom prst="rect">
            <a:avLst/>
          </a:prstGeom>
          <a:solidFill>
            <a:srgbClr val="1668C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8503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 ЧЕГО ВСЁ НАЧИНАЕТСЯ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17043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Согласование договора тянется неделями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Почта, бумага, версии в разных местах — не видно, у кого документ и когда будет готово.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ECEEF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3611880" cy="178308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950" spc="100" kern="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 СЕЙЧАС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Правки и версии теряются в почте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Сроки плывут, эскалации нет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Не видно, у кого документ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Каждая доработка — задача разработчику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0" y="3401568"/>
            <a:ext cx="502920" cy="502920"/>
          </a:xfrm>
          <a:prstGeom prst="ellipse">
            <a:avLst/>
          </a:prstGeom>
          <a:solidFill>
            <a:srgbClr val="1668C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46320" y="2743200"/>
            <a:ext cx="3840480" cy="1783080"/>
          </a:xfrm>
          <a:prstGeom prst="roundRect">
            <a:avLst>
              <a:gd name="adj" fmla="val 3077"/>
            </a:avLst>
          </a:prstGeom>
          <a:solidFill>
            <a:srgbClr val="E7F0FA"/>
          </a:solidFill>
          <a:ln w="12700">
            <a:solidFill>
              <a:srgbClr val="CFE0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743200"/>
            <a:ext cx="3840480" cy="178308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950" spc="100" kern="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 COORDO НА ELMA365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Единый маршрут и реестр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Сроки, эскалация, делегирование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Видно статус на каждом этапе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Маршруты меняются без кода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5875">
            <a:solidFill>
              <a:srgbClr val="1668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WhatDaDev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0" y="274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Платформа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whatdadev.ru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00584" cy="100584"/>
          </a:xfrm>
          <a:prstGeom prst="rect">
            <a:avLst/>
          </a:prstGeom>
          <a:solidFill>
            <a:srgbClr val="1668C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8503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ПЛАТФОРМА, КОТОРОЙ ДОВЕРЯЮТ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1704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15"/>
              </a:lnSpc>
              <a:buNone/>
            </a:pPr>
            <a:r>
              <a:rPr lang="en-US" sz="2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Внедряем ELMA365 — №1 BPM-платформа в СНГ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20624" y="19659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66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4000+</a:t>
            </a:r>
            <a:endParaRPr lang="en-US" sz="72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1737360" cy="64008"/>
          </a:xfrm>
          <a:prstGeom prst="rect">
            <a:avLst/>
          </a:prstGeom>
          <a:solidFill>
            <a:srgbClr val="1668C0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0116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компаний уже работают на ELMA365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внедряем платформу, которой доверяет рынок, — не эксперимент.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841248"/>
          </a:xfrm>
          <a:prstGeom prst="roundRect">
            <a:avLst>
              <a:gd name="adj" fmla="val 5435"/>
            </a:avLst>
          </a:prstGeom>
          <a:solidFill>
            <a:srgbClr val="E9F1FB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337560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66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BPM в СНГ · TAdviser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14600" y="3447288"/>
            <a:ext cx="7315" cy="621792"/>
          </a:xfrm>
          <a:prstGeom prst="rect">
            <a:avLst/>
          </a:prstGeom>
          <a:solidFill>
            <a:srgbClr val="D8E2EC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3337560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66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50 000+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пользователей на инсталляцию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0" y="3447288"/>
            <a:ext cx="7315" cy="621792"/>
          </a:xfrm>
          <a:prstGeom prst="rect">
            <a:avLst/>
          </a:prstGeom>
          <a:solidFill>
            <a:srgbClr val="D8E2EC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3337560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66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250+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партнёров-интеграторов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629400" y="3447288"/>
            <a:ext cx="7315" cy="621792"/>
          </a:xfrm>
          <a:prstGeom prst="rect">
            <a:avLst/>
          </a:prstGeom>
          <a:solidFill>
            <a:srgbClr val="D8E2EC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337560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66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РФ + КЗ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облако или on-premise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Российское ПО · реестр отеч. ПО · замена SAP, Salesforce, MS Dynamics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5875">
            <a:solidFill>
              <a:srgbClr val="1668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WhatDaDev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0" y="274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Продукт · Coordo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whatdadev.ru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00584" cy="100584"/>
          </a:xfrm>
          <a:prstGeom prst="rect">
            <a:avLst/>
          </a:prstGeom>
          <a:solidFill>
            <a:srgbClr val="1668C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8503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 ЗАПУСКАЕМ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1704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15"/>
              </a:lnSpc>
              <a:buNone/>
            </a:pPr>
            <a:r>
              <a:rPr lang="en-US" sz="2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Документооборот за недели, а не месяцы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trike="sngStrike" dirty="0">
                <a:solidFill>
                  <a:srgbClr val="AEB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Месяцы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0" y="19659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6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Недели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6212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2926080"/>
            <a:ext cx="2584704" cy="137160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01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Берём готовый контур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Договоры, ОРД или корреспонденция — из коробки.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61360" y="2926080"/>
            <a:ext cx="26212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79648" y="2926080"/>
            <a:ext cx="2584704" cy="137160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02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Настраиваем маршруты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Этапы, сроки, согласующие — без кода.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65520" y="2926080"/>
            <a:ext cx="26212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3808" y="2926080"/>
            <a:ext cx="2584704" cy="137160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03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и адаптация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Обучение, поддержка, обновления.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 готовых модулях ELMA365 · мобильное приложение в комплекте · один раз, </a:t>
            </a:r>
            <a:pPr indent="0" marL="0">
              <a:buNone/>
            </a:pPr>
            <a:r>
              <a:rPr lang="en-US" sz="950" b="1" dirty="0">
                <a:solidFill>
                  <a:srgbClr val="17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без подписки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5875">
            <a:solidFill>
              <a:srgbClr val="1668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WhatDaDev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0" y="274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Проекты · предварительно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whatdadev.ru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00584" cy="100584"/>
          </a:xfrm>
          <a:prstGeom prst="rect">
            <a:avLst/>
          </a:prstGeom>
          <a:solidFill>
            <a:srgbClr val="1668C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8503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РЕЗУЛЬТАТ, А НЕ СЛАЙДЫ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1704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15"/>
              </a:lnSpc>
              <a:buNone/>
            </a:pPr>
            <a:r>
              <a:rPr lang="en-US" sz="2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меняется после внедрения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spc="100" kern="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ПРОИЗВОДСТВО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договоры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48840" y="2121408"/>
            <a:ext cx="7315" cy="512064"/>
          </a:xfrm>
          <a:prstGeom prst="rect">
            <a:avLst/>
          </a:prstGeom>
          <a:solidFill>
            <a:srgbClr val="D8E2EC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192024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маршрут согласования, прозрачные сроки и общий реестр — вместо переписки и потерянных версий.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971800"/>
            <a:ext cx="3986784" cy="86868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spc="100" kern="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Ритейл · сеть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ОРД и приказы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ознакомления и исполнения по всей сети.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0233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2971800"/>
            <a:ext cx="3986784" cy="86868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spc="100" kern="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Логистика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Корреспонденция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учёт входящих и исходящих — ничего не теряется.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Клиенты: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80160" y="3977640"/>
            <a:ext cx="1364285" cy="384048"/>
          </a:xfrm>
          <a:prstGeom prst="roundRect">
            <a:avLst>
              <a:gd name="adj" fmla="val 7143"/>
            </a:avLst>
          </a:prstGeom>
          <a:solidFill>
            <a:srgbClr val="F5F8FC"/>
          </a:solidFill>
          <a:ln w="12700">
            <a:solidFill>
              <a:srgbClr val="D8E2E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280160" y="3977640"/>
            <a:ext cx="13642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AE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лого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90749" y="3977640"/>
            <a:ext cx="1364285" cy="384048"/>
          </a:xfrm>
          <a:prstGeom prst="roundRect">
            <a:avLst>
              <a:gd name="adj" fmla="val 7143"/>
            </a:avLst>
          </a:prstGeom>
          <a:solidFill>
            <a:srgbClr val="F5F8FC"/>
          </a:solidFill>
          <a:ln w="12700">
            <a:solidFill>
              <a:srgbClr val="D8E2E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2790749" y="3977640"/>
            <a:ext cx="13642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AE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лого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01338" y="3977640"/>
            <a:ext cx="1364285" cy="384048"/>
          </a:xfrm>
          <a:prstGeom prst="roundRect">
            <a:avLst>
              <a:gd name="adj" fmla="val 7143"/>
            </a:avLst>
          </a:prstGeom>
          <a:solidFill>
            <a:srgbClr val="F5F8FC"/>
          </a:solidFill>
          <a:ln w="12700">
            <a:solidFill>
              <a:srgbClr val="D8E2E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301338" y="3977640"/>
            <a:ext cx="13642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AE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лого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11926" y="3977640"/>
            <a:ext cx="1364285" cy="384048"/>
          </a:xfrm>
          <a:prstGeom prst="roundRect">
            <a:avLst>
              <a:gd name="adj" fmla="val 7143"/>
            </a:avLst>
          </a:prstGeom>
          <a:solidFill>
            <a:srgbClr val="F5F8FC"/>
          </a:solidFill>
          <a:ln w="12700">
            <a:solidFill>
              <a:srgbClr val="D8E2E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811926" y="3977640"/>
            <a:ext cx="13642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AE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лого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22515" y="3977640"/>
            <a:ext cx="1364285" cy="384048"/>
          </a:xfrm>
          <a:prstGeom prst="roundRect">
            <a:avLst>
              <a:gd name="adj" fmla="val 7143"/>
            </a:avLst>
          </a:prstGeom>
          <a:solidFill>
            <a:srgbClr val="F5F8FC"/>
          </a:solidFill>
          <a:ln w="12700">
            <a:solidFill>
              <a:srgbClr val="D8E2E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322515" y="3977640"/>
            <a:ext cx="13642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AE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лого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Названия компаний, логотипы и цифры эффекта добавим по согласованию с клиентами.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5875">
            <a:solidFill>
              <a:srgbClr val="1668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WhatDaDev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0" y="274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Экосистема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whatdadev.ru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6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00584" cy="100584"/>
          </a:xfrm>
          <a:prstGeom prst="rect">
            <a:avLst/>
          </a:prstGeom>
          <a:solidFill>
            <a:srgbClr val="1668C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8503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66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БОЛЬШЕ, ЧЕМ ДОКУМЕНТООБОРОТ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1704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15"/>
              </a:lnSpc>
              <a:buNone/>
            </a:pPr>
            <a:r>
              <a:rPr lang="en-US" sz="2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Начинаете с ЭДО — растёте на одной платформе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194767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148840"/>
            <a:ext cx="1911096" cy="749808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Продажи и клиенты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51176" y="2148840"/>
            <a:ext cx="194767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9464" y="2148840"/>
            <a:ext cx="1911096" cy="749808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ЭДО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Документооборот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45152" y="2148840"/>
            <a:ext cx="194767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148840"/>
            <a:ext cx="1911096" cy="749808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КЭДО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Кадровый ЭДО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39128" y="2148840"/>
            <a:ext cx="194767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57416" y="2148840"/>
            <a:ext cx="1911096" cy="749808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ServiceDesk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 и SLA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044952"/>
            <a:ext cx="194767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" y="3044952"/>
            <a:ext cx="1911096" cy="749808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Закупки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Снабжение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51176" y="3044952"/>
            <a:ext cx="194767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9464" y="3044952"/>
            <a:ext cx="1911096" cy="749808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Маркетинг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Лиды и кампании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45152" y="3044952"/>
            <a:ext cx="194767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3044952"/>
            <a:ext cx="1911096" cy="749808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и сроки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39128" y="3044952"/>
            <a:ext cx="194767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A2A3A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57416" y="3044952"/>
            <a:ext cx="1911096" cy="749808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71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Прочие процессы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Портал, боты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E9F1FB"/>
          </a:solidFill>
          <a:ln w="12700">
            <a:solidFill>
              <a:srgbClr val="CFE0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3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Российское ПО.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23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реестре отечественного ПО · замена SAP, Salesforce, MS Dynamics · облако или on-premise на вашем сервере.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1668C0"/>
          </a:solidFill>
          <a:ln w="15875">
            <a:solidFill>
              <a:srgbClr val="9BC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C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WhatDaDev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0" y="274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7C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Следующий шаг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00584" cy="100584"/>
          </a:xfrm>
          <a:prstGeom prst="rect">
            <a:avLst/>
          </a:prstGeom>
          <a:solidFill>
            <a:srgbClr val="9BC7EE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8503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9BC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СЛЕДУЮЩИЙ ШАГ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Покажем на ваших документах — за 30 минут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7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Разберём ваш процесс согласования и посчитаем эффект. Бесплатно, без обязательств.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3017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63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Записаться на разбор  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sales@whatdadev.ru</a:t>
            </a:r>
            <a:pPr indent="0" marL="0">
              <a:buNone/>
            </a:pPr>
            <a:r>
              <a:rPr lang="en-US" sz="1150" dirty="0">
                <a:solidFill>
                  <a:srgbClr val="EE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+7 980 471-57-72</a:t>
            </a:r>
            <a:pPr indent="0" marL="0">
              <a:buNone/>
            </a:pPr>
            <a:r>
              <a:rPr lang="en-US" sz="1150" dirty="0">
                <a:solidFill>
                  <a:srgbClr val="B7C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Telegram @WhatDaDev · whatdadev.ru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WhatDaDev — презентация для знакомства</dc:title>
  <dc:subject>PptxGenJS Presentation</dc:subject>
  <dc:creator>WhatDaDev</dc:creator>
  <cp:lastModifiedBy>WhatDaDev</cp:lastModifiedBy>
  <cp:revision>1</cp:revision>
  <dcterms:created xsi:type="dcterms:W3CDTF">2026-07-10T10:56:54Z</dcterms:created>
  <dcterms:modified xsi:type="dcterms:W3CDTF">2026-07-10T10:56:54Z</dcterms:modified>
</cp:coreProperties>
</file>